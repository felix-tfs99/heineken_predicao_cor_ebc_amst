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(EBC) 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200" b="0" i="0" u="none" strike="noStrike" kern="1200" baseline="0">
                    <a:solidFill>
                      <a:srgbClr val="1B1F23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Dummy</c:v>
                </c:pt>
                <c:pt idx="1">
                  <c:v>Ridge</c:v>
                </c:pt>
                <c:pt idx="2">
                  <c:v>RF (default)</c:v>
                </c:pt>
                <c:pt idx="3">
                  <c:v>RF (tuned)</c:v>
                </c:pt>
                <c:pt idx="4">
                  <c:v>XGB (tuned)</c:v>
                </c:pt>
                <c:pt idx="5">
                  <c:v>LGBM (tuned)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8.83</c:v>
                </c:pt>
                <c:pt idx="1">
                  <c:v>17.8</c:v>
                </c:pt>
                <c:pt idx="2">
                  <c:v>8.31</c:v>
                </c:pt>
                <c:pt idx="3">
                  <c:v>8.61</c:v>
                </c:pt>
                <c:pt idx="4">
                  <c:v>8.72</c:v>
                </c:pt>
                <c:pt idx="5">
                  <c:v>8.91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pt-BR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e13059c-b1d5-4264-9cfc-3a7c44148877}"/>
      </c:ext>
    </c:extLst>
  </c:chart>
  <c:spPr>
    <a:noFill/>
    <a:ln>
      <a:noFill/>
    </a:ln>
    <a:effectLst/>
  </c:spPr>
  <c:txPr>
    <a:bodyPr/>
    <a:lstStyle/>
    <a:p>
      <a:pPr>
        <a:defRPr lang="pt-BR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best_model_loaded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</c:v>
                </c:pt>
              </c:strCache>
            </c:strRef>
          </c:cat>
          <c:val>
            <c:numRef>
              <c:f>Sheet1!$I$2:$I$4</c:f>
              <c:numCache>
                <c:formatCode>#,#00_);[Red]\(#,#00\)</c:formatCode>
                <c:ptCount val="3"/>
                <c:pt idx="0">
                  <c:v>17.51</c:v>
                </c:pt>
                <c:pt idx="1">
                  <c:v>12.94</c:v>
                </c:pt>
                <c:pt idx="2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Sheet1!$J$1</c:f>
              <c:strCache>
                <c:ptCount val="1"/>
                <c:pt idx="0">
                  <c:v>xgb_weighted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</c:v>
                </c:pt>
              </c:strCache>
            </c:strRef>
          </c:cat>
          <c:val>
            <c:numRef>
              <c:f>Sheet1!$J$2:$J$4</c:f>
              <c:numCache>
                <c:formatCode>#,#00_);[Red]\(#,#00\)</c:formatCode>
                <c:ptCount val="3"/>
                <c:pt idx="0">
                  <c:v>18.28</c:v>
                </c:pt>
                <c:pt idx="1">
                  <c:v>12.43</c:v>
                </c:pt>
                <c:pt idx="2">
                  <c:v>5.15</c:v>
                </c:pt>
              </c:numCache>
            </c:numRef>
          </c:val>
        </c:ser>
        <c:ser>
          <c:idx val="2"/>
          <c:order val="2"/>
          <c:tx>
            <c:strRef>
              <c:f>Sheet1!$K$1</c:f>
              <c:strCache>
                <c:ptCount val="1"/>
                <c:pt idx="0">
                  <c:v>lgbm_weighted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pt-BR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</c:v>
                </c:pt>
              </c:strCache>
            </c:strRef>
          </c:cat>
          <c:val>
            <c:numRef>
              <c:f>Sheet1!$K$2:$K$4</c:f>
              <c:numCache>
                <c:formatCode>#,#00_);[Red]\(#,#00\)</c:formatCode>
                <c:ptCount val="3"/>
                <c:pt idx="0">
                  <c:v>18.52</c:v>
                </c:pt>
                <c:pt idx="1">
                  <c:v>14.08</c:v>
                </c:pt>
                <c:pt idx="2">
                  <c:v>6.02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pt-BR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noFill/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pt-BR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pt-BR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7b6b581-88c8-40be-bac5-b12a8b6732df}"/>
      </c:ext>
    </c:extLst>
  </c:chart>
  <c:spPr>
    <a:noFill/>
    <a:ln>
      <a:noFill/>
    </a:ln>
    <a:effectLst/>
  </c:spPr>
  <c:txPr>
    <a:bodyPr/>
    <a:lstStyle/>
    <a:p>
      <a:pPr>
        <a:defRPr lang="pt-BR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https://commons.wikimedia.org/wiki/File:Beer_in_glass_close_up.jpg (imagem de fundo, domínio público)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https://www.beerandbrewing.com/dictionary/CFylSTygOs (definição e referência sobre escala EBC)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(Gráfico) Valores no gráfico são apenas ilustrativos e devem ser substituídos pelos resultados reais.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(Gráfico) Valores no gráfico são apenas ilustrativos e devem ser substituídos pelos resultados reais.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https://www.lovibond.com/usa-en/PC/Colour-Measurement/Colour-Scales-Standards/EBC-European-Brewing-Convention
- https://www.beerandbrewing.com/dictionary/CFylSTygOs
- https://en.wikipedia.org/wiki/Standard_Reference_Method
- https://www.wsetglobal.com/knowledge-centre/blog/2025/what-s-in-a-beer-colour-how-shades-tell-a-story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hub.com/Felix-tfs99" TargetMode="External"/><Relationship Id="rId1" Type="http://schemas.openxmlformats.org/officeDocument/2006/relationships/hyperlink" Target="https://www.linkedin.com/in/thiago-f-488a6712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eer_closeup_dark.jpg"/>
          <p:cNvPicPr>
            <a:picLocks noChangeAspect="1"/>
          </p:cNvPicPr>
          <p:nvPr/>
        </p:nvPicPr>
        <p:blipFill>
          <a:blip r:embed="rId1"/>
          <a:srcRect l="19328" r="19328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4" name="Text 1"/>
          <p:cNvSpPr/>
          <p:nvPr/>
        </p:nvSpPr>
        <p:spPr>
          <a:xfrm>
            <a:off x="868680" y="2011680"/>
            <a:ext cx="5349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Predição de Cor (EBC)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68680" y="2788920"/>
            <a:ext cx="5349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— Mosto frio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Resumo executivo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339333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Prever a cor (EBC) do mosto frio antes do fim do processo, reduzindo retrabalho e perdas.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99178" y="868680"/>
            <a:ext cx="339333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Abordagem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Modelagem supervisionada com variáveis de receita (maltes), processo (T/tempo) e medições físico-químicas.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12557" y="868680"/>
            <a:ext cx="339333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Recomendação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otimizado como candidato principal (robusto e interpretável).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*Inserir métricas finais*.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10820095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D1B2A"/>
            </a:solidFill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Impacto esperado (operacional)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10820095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0D1B2A"/>
            </a:solidFill>
          </a:ln>
        </p:spPr>
        <p:txBody>
          <a:bodyPr wrap="square" lIns="203200" tIns="203200" rIns="203200" bIns="203200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E9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Antecipar decisão de correção (antes do fim do lote)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E9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Padronizar qualidade (redução de variabilidade)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E9EE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para monitoramento de drift e melhoria contínua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Contexto do problema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 que a cor (EBC) importa?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56692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cor é um atributo crítico de qualidade — pequenos desvios podem gerar retrabalho ou descarte.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relação entre receita, processo e cor é complexa e não linear.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Valor: prever a cor antes do fim do processo para permitir ação corretiva.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868680"/>
            <a:ext cx="483077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Janela de decisão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48307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Receita / Maltes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80780" y="2071116"/>
            <a:ext cx="219456" cy="201168"/>
          </a:xfrm>
          <a:prstGeom prst="down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11" name="Text 9"/>
          <p:cNvSpPr/>
          <p:nvPr/>
        </p:nvSpPr>
        <p:spPr>
          <a:xfrm>
            <a:off x="6675120" y="2331720"/>
            <a:ext cx="48307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Mostura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e tempo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80780" y="3168396"/>
            <a:ext cx="219456" cy="201168"/>
          </a:xfrm>
          <a:prstGeom prst="down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13" name="Text 11"/>
          <p:cNvSpPr/>
          <p:nvPr/>
        </p:nvSpPr>
        <p:spPr>
          <a:xfrm>
            <a:off x="6675120" y="3429000"/>
            <a:ext cx="48307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Filtração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80780" y="4265676"/>
            <a:ext cx="219456" cy="201168"/>
          </a:xfrm>
          <a:prstGeom prst="down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15" name="Text 13"/>
          <p:cNvSpPr/>
          <p:nvPr/>
        </p:nvSpPr>
        <p:spPr>
          <a:xfrm>
            <a:off x="6675120" y="4526280"/>
            <a:ext cx="4830775" cy="777240"/>
          </a:xfrm>
          <a:prstGeom prst="rect">
            <a:avLst/>
          </a:prstGeom>
          <a:solidFill>
            <a:srgbClr val="FFF4E6"/>
          </a:solidFill>
          <a:ln w="12700">
            <a:solidFill>
              <a:srgbClr val="F2A900"/>
            </a:solidFill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Mosto frio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medição alvo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Dados &amp; variáveis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8200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Dados em nível de lote (batch-level)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8200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Três grupos principais de variáveis: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39333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Receita (maltes)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% por tipo de malte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potencial de cor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granulometria (se houver)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99178" y="1645920"/>
            <a:ext cx="339333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Processo (térmico)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temperaturas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tempos por etapa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rampas e patamares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12557" y="1645920"/>
            <a:ext cx="339333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Físico-químico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densidade / extrato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pH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turbidez / outros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617720"/>
            <a:ext cx="10820095" cy="1234440"/>
          </a:xfrm>
          <a:prstGeom prst="rect">
            <a:avLst/>
          </a:prstGeom>
          <a:solidFill>
            <a:srgbClr val="FFF4E6"/>
          </a:solidFill>
          <a:ln w="12700">
            <a:solidFill>
              <a:srgbClr val="F2A900"/>
            </a:solidFill>
          </a:ln>
        </p:spPr>
        <p:txBody>
          <a:bodyPr wrap="square" lIns="203200" tIns="203200" rIns="203200" bIns="2032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
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 (EBC) do mosto frio</a:t>
            </a:r>
            <a:r>
              <a:rPr lang="en-US" sz="1600" b="1" dirty="0">
                <a:solidFill>
                  <a:srgbClr val="C810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previsão antes do final do processo para suportar decisão operacional.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Metodologia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8200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 modelagem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917131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temporal
</a:t>
            </a:r>
            <a:r>
              <a:rPr lang="en-US" sz="10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evita leakage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16647" y="1828800"/>
            <a:ext cx="109728" cy="182880"/>
          </a:xfrm>
          <a:prstGeom prst="right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9" name="Text 7"/>
          <p:cNvSpPr/>
          <p:nvPr/>
        </p:nvSpPr>
        <p:spPr>
          <a:xfrm>
            <a:off x="2740091" y="1417320"/>
            <a:ext cx="1917131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Baselines
</a:t>
            </a:r>
            <a:r>
              <a:rPr lang="en-US" sz="10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Dummy • Ridge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70938" y="1828800"/>
            <a:ext cx="109728" cy="182880"/>
          </a:xfrm>
          <a:prstGeom prst="right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11" name="Text 9"/>
          <p:cNvSpPr/>
          <p:nvPr/>
        </p:nvSpPr>
        <p:spPr>
          <a:xfrm>
            <a:off x="4794382" y="1417320"/>
            <a:ext cx="1917131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Modelos avançados
</a:t>
            </a:r>
            <a:r>
              <a:rPr lang="en-US" sz="10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 tuned • Boosting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5229" y="1828800"/>
            <a:ext cx="109728" cy="182880"/>
          </a:xfrm>
          <a:prstGeom prst="right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13" name="Text 11"/>
          <p:cNvSpPr/>
          <p:nvPr/>
        </p:nvSpPr>
        <p:spPr>
          <a:xfrm>
            <a:off x="6848673" y="1417320"/>
            <a:ext cx="1917131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Avaliação
</a:t>
            </a:r>
            <a:r>
              <a:rPr lang="en-US" sz="10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+ por faixas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9520" y="1828800"/>
            <a:ext cx="109728" cy="182880"/>
          </a:xfrm>
          <a:prstGeom prst="rightArrow">
            <a:avLst/>
          </a:prstGeom>
          <a:solidFill>
            <a:schemeClr val="accent6">
              <a:lumMod val="75000"/>
              <a:alpha val="90000"/>
            </a:schemeClr>
          </a:solidFill>
          <a:ln w="12700">
            <a:solidFill>
              <a:schemeClr val="accent6">
                <a:lumMod val="50000"/>
                <a:alpha val="90000"/>
              </a:scheme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15" name="Text 13"/>
          <p:cNvSpPr/>
          <p:nvPr/>
        </p:nvSpPr>
        <p:spPr>
          <a:xfrm>
            <a:off x="8902964" y="1417320"/>
            <a:ext cx="1917131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Entrega
</a:t>
            </a:r>
            <a:r>
              <a:rPr lang="en-US" sz="10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monitoramento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108200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temporal (exemplo de janela)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200400"/>
            <a:ext cx="7033062" cy="502920"/>
          </a:xfrm>
          <a:prstGeom prst="rect">
            <a:avLst/>
          </a:prstGeom>
          <a:solidFill>
            <a:srgbClr val="DFF3E4"/>
          </a:solidFill>
          <a:ln w="12700">
            <a:solidFill>
              <a:srgbClr val="8AD7A2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Treino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18862" y="3200400"/>
            <a:ext cx="2164019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9B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82881" y="3200400"/>
            <a:ext cx="1623014" cy="502920"/>
          </a:xfrm>
          <a:prstGeom prst="rect">
            <a:avLst/>
          </a:prstGeom>
          <a:solidFill>
            <a:srgbClr val="FFE8E8"/>
          </a:solidFill>
          <a:ln w="12700">
            <a:solidFill>
              <a:srgbClr val="FF9A9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886200"/>
            <a:ext cx="108200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Métricas: MAE / RMSE + estabilidade no tempo + análise por faixas do target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Resultados globais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8200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Comparação de modelos </a:t>
            </a:r>
            <a:r>
              <a:rPr lang="pt-BR" alt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 RMSE</a:t>
            </a:r>
            <a:endParaRPr lang="pt-BR" altLang="en-US" sz="1600" b="1" dirty="0">
              <a:solidFill>
                <a:srgbClr val="1B1F2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325880"/>
          <a:ext cx="6400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315200" y="1325880"/>
            <a:ext cx="419069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Leitura (do case)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Random Forest otimizado: melhor equilíbrio entre erro médio, estabilidade e generalização.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Recomenda-se priorizar robustez no tempo (produção).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3429000"/>
            <a:ext cx="4190695" cy="1737360"/>
          </a:xfrm>
          <a:prstGeom prst="rect">
            <a:avLst/>
          </a:prstGeom>
          <a:solidFill>
            <a:srgbClr val="FFF4E6"/>
          </a:solidFill>
          <a:ln w="12700">
            <a:solidFill>
              <a:srgbClr val="F2A900"/>
            </a:solidFill>
          </a:ln>
        </p:spPr>
        <p:txBody>
          <a:bodyPr wrap="square" lIns="203200" tIns="203200" rIns="203200" bIns="2032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 finais: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MAE: _</a:t>
            </a:r>
            <a:r>
              <a:rPr lang="pt-BR" altLang="en-US" sz="1200" u="sng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6,75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   •   RMSE: _</a:t>
            </a:r>
            <a:r>
              <a:rPr lang="pt-BR" altLang="en-US" sz="1200" u="sng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8,62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   •   </a:t>
            </a:r>
            <a:r>
              <a:rPr lang="pt-BR" alt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_</a:t>
            </a:r>
            <a:r>
              <a:rPr lang="pt-BR" altLang="en-US" sz="1200" u="sng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0,04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52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Análise por faixa &amp; trade-offs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8200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 tende a aumentar nas regiões extremas do target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32588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315200" y="1325880"/>
            <a:ext cx="4190695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&amp; trade-offs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Extremos de cor costumam ter menos dados → maior erro.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sample_weight pode melhorar extremos, mas tende a piorar a faixa central.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Monitorar performance por faixa é crucial para uso operacional.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5166360"/>
            <a:ext cx="4190695" cy="8686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0D1B2A"/>
            </a:solidFill>
          </a:ln>
        </p:spPr>
        <p:txBody>
          <a:bodyPr wrap="square" lIns="203200" tIns="203200" rIns="203200" bIns="2032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Dica prática: reporte MAE/RMSE + MAE por faixa + tendência no tempo.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Conclusões &amp; próximos passos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5181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Conclusões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Random Forest otimizado é o melhor modelo para uso operacional (trade-off entre precisão e robustez).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Modelos ponderados podem ser usados de forma complementar para extremos.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Interpretabilidade e estabilidade no tempo são prioridade para produção.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4448" y="1280160"/>
            <a:ext cx="5181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 wrap="square" lIns="177800" tIns="177800" rIns="177800" bIns="177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Próximos passos
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Ampliar dados em regiões extremas de EBC (coleta/estratificação).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Refinar features físicas e de processo (rampas, energia, interação).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Implementar monitoramento: drift, alertas e re-treinamento.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108200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sugerido (90 dias)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351525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0–30d</a:t>
            </a:r>
            <a:r>
              <a:rPr lang="en-US" sz="1200" b="1" dirty="0">
                <a:solidFill>
                  <a:srgbClr val="C810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Consolidação de dados + baseline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(qualidade, gaps, extremos)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38218" y="4343400"/>
            <a:ext cx="351525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30–60d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+ tuning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(validação por faixa)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44917" y="4343400"/>
            <a:ext cx="351525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60–90d
</a:t>
            </a: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+ monitoramento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(drift, alertas, retrain)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"/>
            <a:ext cx="972281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Fontes &amp; referências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00055" y="164592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9/10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10820095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AMST • Predição de Cor (EBC) do mosto frio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108200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Leituras usadas para contexto (não relacionadas aos dados internos):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0820095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altLang="pt-BR" sz="1300" dirty="0"/>
              <a:t>Cerveja da Casa.</a:t>
            </a:r>
            <a:endParaRPr lang="en-US" altLang="pt-BR" sz="1300" dirty="0"/>
          </a:p>
          <a:p>
            <a:pPr marL="228600" indent="-228600">
              <a:buSzPct val="100000"/>
              <a:buChar char="•"/>
            </a:pPr>
            <a:r>
              <a:rPr lang="en-US" altLang="pt-BR" sz="1300" dirty="0"/>
              <a:t>Whats in a Beer Colour How Shades Tell a Story</a:t>
            </a:r>
            <a:endParaRPr lang="en-US" altLang="pt-BR" sz="1300" dirty="0"/>
          </a:p>
          <a:p>
            <a:pPr marL="228600" indent="-228600">
              <a:buSzPct val="100000"/>
              <a:buChar char="•"/>
            </a:pPr>
            <a:r>
              <a:rPr lang="en-US" altLang="pt-BR" sz="1300" dirty="0"/>
              <a:t>European Beer Star</a:t>
            </a:r>
            <a:endParaRPr lang="en-US" altLang="pt-BR" sz="1300" dirty="0"/>
          </a:p>
          <a:p>
            <a:pPr marL="228600" indent="-228600">
              <a:buSzPct val="100000"/>
              <a:buChar char="•"/>
            </a:pPr>
            <a:r>
              <a:rPr lang="en-US" altLang="pt-BR" sz="1300" dirty="0"/>
              <a:t>EBC Colors of Beer</a:t>
            </a:r>
            <a:endParaRPr lang="en-US" altLang="pt-BR" sz="1300" dirty="0"/>
          </a:p>
          <a:p>
            <a:pPr marL="228600" indent="-228600">
              <a:buSzPct val="100000"/>
              <a:buChar char="•"/>
            </a:pPr>
            <a:r>
              <a:rPr lang="en-US" altLang="pt-BR" sz="1300" dirty="0"/>
              <a:t>What is the SRM &amp; Beer Color Scale?</a:t>
            </a:r>
            <a:endParaRPr lang="en-US" altLang="pt-BR" sz="1300" dirty="0"/>
          </a:p>
          <a:p>
            <a:pPr marL="228600" indent="-228600">
              <a:buSzPct val="100000"/>
              <a:buChar char="•"/>
            </a:pPr>
            <a:r>
              <a:rPr lang="en-US" altLang="pt-BR" sz="1300" dirty="0"/>
              <a:t>Beer: Standard Reference Method and European Brewing Convention</a:t>
            </a:r>
            <a:endParaRPr lang="en-US" altLang="pt-BR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10820095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wrap="square" lIns="203200" tIns="203200" rIns="203200" bIns="2032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
</a:t>
            </a:r>
            <a:r>
              <a:rPr lang="en-US" altLang="pt-BR" sz="1300" dirty="0"/>
              <a:t>https://www.cervejadacasa.com/noticias/o-que-determina-a-cor-da-cerveja#:~:text=As%20rea</a:t>
            </a:r>
            <a:r>
              <a:rPr lang="" altLang="en-US" sz="1300" dirty="0"/>
              <a:t>çõ</a:t>
            </a:r>
            <a:r>
              <a:rPr lang="en-US" altLang="pt-BR" sz="1300" dirty="0"/>
              <a:t>es%20de%20Maillard%20ocorrem%20quando%20se,e%20est</a:t>
            </a:r>
            <a:r>
              <a:rPr lang="en-US" altLang="en-US" sz="1300" dirty="0"/>
              <a:t>ã</a:t>
            </a:r>
            <a:r>
              <a:rPr lang="en-US" altLang="pt-BR" sz="1300" dirty="0"/>
              <a:t>o%20associadas%20à%20mudan</a:t>
            </a:r>
            <a:r>
              <a:rPr lang="" altLang="en-US" sz="1300" dirty="0"/>
              <a:t>ç</a:t>
            </a:r>
            <a:r>
              <a:rPr lang="en-US" altLang="pt-BR" sz="1300" dirty="0"/>
              <a:t>a%20de%20cor</a:t>
            </a:r>
            <a:endParaRPr lang="en-US" altLang="pt-BR" sz="1300" dirty="0"/>
          </a:p>
          <a:p>
            <a:pPr marL="0" indent="0">
              <a:buNone/>
            </a:pPr>
            <a:r>
              <a:rPr lang="en-US" altLang="pt-BR" sz="1300" dirty="0"/>
              <a:t>https://www.wsetglobal.com/knowledge-centre/blog/2025/what-s-in-a-beer-colour-how-shades-tell-a-story</a:t>
            </a:r>
            <a:endParaRPr lang="en-US" altLang="pt-BR" sz="1300" dirty="0"/>
          </a:p>
          <a:p>
            <a:pPr marL="0" indent="0">
              <a:buNone/>
            </a:pPr>
            <a:r>
              <a:rPr lang="en-US" altLang="pt-BR" sz="1300" dirty="0"/>
              <a:t>https://european-beer-star.com/ebs-en/wettbewerb/kategorien/</a:t>
            </a:r>
            <a:br>
              <a:rPr lang="en-US" altLang="pt-BR" sz="1300" dirty="0"/>
            </a:br>
            <a:r>
              <a:rPr lang="en-US" altLang="pt-BR" sz="1300" dirty="0"/>
              <a:t>https://www.downtheroadbrewery.com/ebc-colors-of-beer.html</a:t>
            </a:r>
            <a:endParaRPr lang="en-US" altLang="pt-BR" sz="1300" dirty="0"/>
          </a:p>
          <a:p>
            <a:pPr marL="0" indent="0">
              <a:buNone/>
            </a:pPr>
            <a:r>
              <a:rPr lang="en-US" altLang="pt-BR" sz="1300" dirty="0"/>
              <a:t>https://beermaverick.com/understanding-srm-and-lovibond-beer-color-calculations/#:~:text=The%20Lovibond%20scale%20has%20mostly%20been%20replaced,color%20of%20malt%20and%20other%20brewing%20ingredients</a:t>
            </a:r>
            <a:endParaRPr lang="en-US" altLang="pt-BR" sz="1300" dirty="0"/>
          </a:p>
          <a:p>
            <a:pPr marL="0" indent="0">
              <a:buNone/>
            </a:pPr>
            <a:r>
              <a:rPr lang="en-US" altLang="pt-BR" sz="1300" dirty="0"/>
              <a:t>https://redlionkegworth.co.uk/2019/11/beer-standard-reference-method-and-european-brewing-convention/</a:t>
            </a:r>
            <a:endParaRPr lang="en-US" altLang="pt-BR" sz="1300" dirty="0"/>
          </a:p>
          <a:p>
            <a:pPr marL="0" indent="0">
              <a:buNone/>
            </a:pPr>
            <a:endParaRPr lang="en-US" altLang="pt-BR" sz="1300" dirty="0"/>
          </a:p>
          <a:p>
            <a:pPr marL="0" indent="0">
              <a:buNone/>
            </a:pPr>
            <a:endParaRPr lang="en-US" altLang="pt-B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194560"/>
            <a:ext cx="1082009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Obrigado(a)!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108200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023360"/>
            <a:ext cx="6126480" cy="1325880"/>
          </a:xfrm>
          <a:prstGeom prst="rect">
            <a:avLst/>
          </a:prstGeom>
          <a:noFill/>
          <a:ln>
            <a:solidFill>
              <a:srgbClr val="FFFFFF">
                <a:alpha val="20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8000"/>
                  </a:srgbClr>
                </a:solidFill>
              </a14:hiddenFill>
            </a:ext>
          </a:extLst>
        </p:spPr>
        <p:txBody>
          <a:bodyPr wrap="square" lIns="203200" tIns="203200" rIns="203200" bIns="2032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Contato
</a:t>
            </a:r>
            <a:r>
              <a:rPr lang="en-US" sz="125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LinkedIn: </a:t>
            </a:r>
            <a:r>
              <a:rPr lang="pt-BR" sz="125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tooltip="" action="ppaction://hlinkfile"/>
              </a:rPr>
              <a:t>Thiago Felix</a:t>
            </a:r>
            <a:endParaRPr lang="en-US" altLang="pt-BR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</a:t>
            </a:r>
            <a:r>
              <a:rPr lang="pt-BR" sz="125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 tooltip="" action="ppaction://hlinkfile"/>
              </a:rPr>
              <a:t>Felix-tfs99</a:t>
            </a:r>
            <a:endParaRPr lang="en-US" altLang="pt-BR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E-mail: </a:t>
            </a:r>
            <a:r>
              <a:rPr lang="pt-BR" altLang="en-US" sz="1250" dirty="0">
                <a:solidFill>
                  <a:srgbClr val="D9DD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felix.tfs99@gmail.com</a:t>
            </a:r>
            <a:endParaRPr lang="pt-BR" altLang="en-US" sz="1250" dirty="0">
              <a:solidFill>
                <a:srgbClr val="D9DDE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4454</Words>
  <Application>WPS Presentation</Application>
  <PresentationFormat>On-screen Show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Heineken / Amstel (case)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ChatGPT</dc:creator>
  <dc:subject>PptxGenJS Presentation</dc:subject>
  <cp:lastModifiedBy>thiago.silva</cp:lastModifiedBy>
  <cp:revision>5</cp:revision>
  <dcterms:created xsi:type="dcterms:W3CDTF">2025-12-14T16:51:00Z</dcterms:created>
  <dcterms:modified xsi:type="dcterms:W3CDTF">2025-12-15T12:55:48Z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E9D810A29C5C4E7F9A1A0AFAFD16F1C5_12</vt:lpwstr>
  </property>
  <property fmtid="{D5CDD505-2E9C-101B-9397-08002B2CF9AE}" pid="3" name="KSOProductBuildVer">
    <vt:lpwstr>1046-12.2.0.20326</vt:lpwstr>
  </property>
</Properties>
</file>